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80509d2-e1fb-e16b-5522-ab0d3ea44f82}">
          <p14:sldIdLst>
            <p14:sldId id="256"/>
            <p14:sldId id="257"/>
            <p14:sldId id="258"/>
          </p14:sldIdLst>
        </p14:section>
        <p14:section name="Les outils" id="{5687613f-8499-8406-5d66-8529cbac0b15}">
          <p14:sldIdLst>
            <p14:sldId id="259"/>
            <p14:sldId id="260"/>
            <p14:sldId id="261"/>
            <p14:sldId id="262"/>
          </p14:sldIdLst>
        </p14:section>
        <p14:section name="LLM" id="{313eb0fe-3cdb-6e47-a91f-3f19f5dbfb0a}">
          <p14:sldIdLst>
            <p14:sldId id="263"/>
          </p14:sldIdLst>
        </p14:section>
        <p14:section name="Synthèse" id="{3b6fa106-3fd0-da4d-9f5d-94506a549e6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Le NLP expliqué simplement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188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 NLP expliqué simplement</a:t>
            </a:r>
            <a:endParaRPr lang="en-US" sz="4000" dirty="0"/>
          </a:p>
        </p:txBody>
      </p:sp>
      <p:sp>
        <p:nvSpPr>
          <p:cNvPr id="3" name="sous-titre"/>
          <p:cNvSpPr txBox="1"/>
          <p:nvPr/>
        </p:nvSpPr>
        <p:spPr>
          <a:xfrm>
            <a:off x="64008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NLTK · spaCy · Transformers · LLM</a:t>
            </a:r>
            <a:endParaRPr lang="en-US" sz="2200" dirty="0"/>
          </a:p>
        </p:txBody>
      </p:sp>
      <p:sp>
        <p:nvSpPr>
          <p:cNvPr id="4" name="date"/>
          <p:cNvSpPr txBox="1"/>
          <p:nvPr/>
        </p:nvSpPr>
        <p:spPr>
          <a:xfrm>
            <a:off x="64008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Présentation pour élèves · Octobre 2026</a:t>
            </a:r>
            <a:endParaRPr lang="en-US" sz="1400" dirty="0"/>
          </a:p>
        </p:txBody>
      </p:sp>
      <p:sp>
        <p:nvSpPr>
          <p:cNvPr id="5" name="mot Le"/>
          <p:cNvSpPr/>
          <p:nvPr/>
        </p:nvSpPr>
        <p:spPr>
          <a:xfrm>
            <a:off x="5852160" y="1371600"/>
            <a:ext cx="128016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71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371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nombre 17"/>
          <p:cNvSpPr/>
          <p:nvPr/>
        </p:nvSpPr>
        <p:spPr>
          <a:xfrm>
            <a:off x="7635240" y="1371600"/>
            <a:ext cx="9144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17</a:t>
            </a:r>
            <a:endParaRPr lang="en-US" sz="1800" dirty="0"/>
          </a:p>
        </p:txBody>
      </p:sp>
      <p:sp>
        <p:nvSpPr>
          <p:cNvPr id="10" name="mot chat"/>
          <p:cNvSpPr/>
          <p:nvPr/>
        </p:nvSpPr>
        <p:spPr>
          <a:xfrm>
            <a:off x="5852160" y="2286000"/>
            <a:ext cx="128016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2860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nombre 2093"/>
          <p:cNvSpPr/>
          <p:nvPr/>
        </p:nvSpPr>
        <p:spPr>
          <a:xfrm>
            <a:off x="7635240" y="2286000"/>
            <a:ext cx="9144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2093</a:t>
            </a:r>
            <a:endParaRPr lang="en-US" sz="1800" dirty="0"/>
          </a:p>
        </p:txBody>
      </p:sp>
      <p:sp>
        <p:nvSpPr>
          <p:cNvPr id="15" name="mot dort"/>
          <p:cNvSpPr/>
          <p:nvPr/>
        </p:nvSpPr>
        <p:spPr>
          <a:xfrm>
            <a:off x="5852160" y="3200400"/>
            <a:ext cx="128016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3200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dort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200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nombre 411"/>
          <p:cNvSpPr/>
          <p:nvPr/>
        </p:nvSpPr>
        <p:spPr>
          <a:xfrm>
            <a:off x="7635240" y="3200400"/>
            <a:ext cx="9144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3200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411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Les mots deviennent des nombres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NLP, c'est quoi ?</a:t>
            </a:r>
            <a:endParaRPr lang="en-US" sz="3200" dirty="0"/>
          </a:p>
        </p:txBody>
      </p:sp>
      <p:sp>
        <p:nvSpPr>
          <p:cNvPr id="3" name="définition"/>
          <p:cNvSpPr txBox="1"/>
          <p:nvPr/>
        </p:nvSpPr>
        <p:spPr>
          <a:xfrm>
            <a:off x="548640" y="137160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Apprendre à l'ordinateur à lire et comprendre le langage humain.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Un ordinateur ne comprend que des nombres. Le NLP transforme donc les mots en nombres, puis y cherche des motifs.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NLP = Natural Language Processing, soit « traitement automatique du langage naturel ».</a:t>
            </a:r>
            <a:endParaRPr lang="en-US" sz="2000" dirty="0"/>
          </a:p>
        </p:txBody>
      </p:sp>
      <p:sp>
        <p:nvSpPr>
          <p:cNvPr id="4" name="exemple 1"/>
          <p:cNvSpPr/>
          <p:nvPr/>
        </p:nvSpPr>
        <p:spPr>
          <a:xfrm>
            <a:off x="4937760" y="137160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ercle"/>
          <p:cNvSpPr/>
          <p:nvPr/>
        </p:nvSpPr>
        <p:spPr>
          <a:xfrm>
            <a:off x="51206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499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Traduction automatique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Traduire un texte dans une autre langue</a:t>
            </a:r>
            <a:endParaRPr lang="en-US" sz="1400" dirty="0"/>
          </a:p>
        </p:txBody>
      </p:sp>
      <p:sp>
        <p:nvSpPr>
          <p:cNvPr id="9" name="exemple 2"/>
          <p:cNvSpPr/>
          <p:nvPr/>
        </p:nvSpPr>
        <p:spPr>
          <a:xfrm>
            <a:off x="4937760" y="242316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ercle"/>
          <p:cNvSpPr/>
          <p:nvPr/>
        </p:nvSpPr>
        <p:spPr>
          <a:xfrm>
            <a:off x="512064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5511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Assistants et chatbots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898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Répondre à vos questions</a:t>
            </a:r>
            <a:endParaRPr lang="en-US" sz="1400" dirty="0"/>
          </a:p>
        </p:txBody>
      </p:sp>
      <p:sp>
        <p:nvSpPr>
          <p:cNvPr id="14" name="exemple 3"/>
          <p:cNvSpPr/>
          <p:nvPr/>
        </p:nvSpPr>
        <p:spPr>
          <a:xfrm>
            <a:off x="4937760" y="347472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ercle"/>
          <p:cNvSpPr/>
          <p:nvPr/>
        </p:nvSpPr>
        <p:spPr>
          <a:xfrm>
            <a:off x="512064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602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Filtres anti-spam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Trier les messages utiles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70 ans d'évolution du NLP</a:t>
            </a:r>
            <a:endParaRPr lang="en-US" sz="3200" dirty="0"/>
          </a:p>
        </p:txBody>
      </p:sp>
      <p:sp>
        <p:nvSpPr>
          <p:cNvPr id="3" name="ligne du temps"/>
          <p:cNvSpPr/>
          <p:nvPr/>
        </p:nvSpPr>
        <p:spPr>
          <a:xfrm>
            <a:off x="1188720" y="2377440"/>
            <a:ext cx="67665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Années 50–80</a:t>
            </a:r>
            <a:endParaRPr lang="en-US" sz="1200" dirty="0"/>
          </a:p>
        </p:txBody>
      </p:sp>
      <p:sp>
        <p:nvSpPr>
          <p:cNvPr id="5" name="étape 1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Règles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Règles écrites à la main par des linguistes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Années 90–2000</a:t>
            </a:r>
            <a:endParaRPr lang="en-US" sz="1200" dirty="0"/>
          </a:p>
        </p:txBody>
      </p:sp>
      <p:sp>
        <p:nvSpPr>
          <p:cNvPr id="10" name="étape 2"/>
          <p:cNvSpPr/>
          <p:nvPr/>
        </p:nvSpPr>
        <p:spPr>
          <a:xfrm>
            <a:off x="256032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Statistiques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L'ordinateur compte et compare les mots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Années 2010</a:t>
            </a:r>
            <a:endParaRPr lang="en-US" sz="1200" dirty="0"/>
          </a:p>
        </p:txBody>
      </p:sp>
      <p:sp>
        <p:nvSpPr>
          <p:cNvPr id="15" name="étape 3"/>
          <p:cNvSpPr/>
          <p:nvPr/>
        </p:nvSpPr>
        <p:spPr>
          <a:xfrm>
            <a:off x="42519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1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Deep learning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réseaux de neurones qui apprennent seuls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2017</a:t>
            </a:r>
            <a:endParaRPr lang="en-US" sz="1200" dirty="0"/>
          </a:p>
        </p:txBody>
      </p:sp>
      <p:sp>
        <p:nvSpPr>
          <p:cNvPr id="20" name="étape 4"/>
          <p:cNvSpPr/>
          <p:nvPr/>
        </p:nvSpPr>
        <p:spPr>
          <a:xfrm>
            <a:off x="59436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Transformers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L'attention : toute la phrase est lue d'un coup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Depuis 2020</a:t>
            </a:r>
            <a:endParaRPr lang="en-US" sz="1200" dirty="0"/>
          </a:p>
        </p:txBody>
      </p:sp>
      <p:sp>
        <p:nvSpPr>
          <p:cNvPr id="25" name="étape 5"/>
          <p:cNvSpPr/>
          <p:nvPr/>
        </p:nvSpPr>
        <p:spPr>
          <a:xfrm>
            <a:off x="7635240" y="2057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LLM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Modèles géants entraînés sur d'immenses textes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NLTK : l'outil pour apprendre</a:t>
            </a:r>
            <a:endParaRPr lang="en-US" sz="3200" dirty="0"/>
          </a:p>
        </p:txBody>
      </p:sp>
      <p:sp>
        <p:nvSpPr>
          <p:cNvPr id="3" name="ligne DÉFINITION"/>
          <p:cNvSpPr/>
          <p:nvPr/>
        </p:nvSpPr>
        <p:spPr>
          <a:xfrm>
            <a:off x="54864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DÉFINITION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19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Bibliothèque Python pour apprendre et expérimenter le NLP.</a:t>
            </a:r>
            <a:endParaRPr lang="en-US" sz="1400" dirty="0"/>
          </a:p>
        </p:txBody>
      </p:sp>
      <p:sp>
        <p:nvSpPr>
          <p:cNvPr id="6" name="ligne SAIT FAIRE"/>
          <p:cNvSpPr/>
          <p:nvPr/>
        </p:nvSpPr>
        <p:spPr>
          <a:xfrm>
            <a:off x="548640" y="242316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SAIT FAIRE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70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Découper en mots, trouver les racines, analyser la grammaire, utiliser WordNet.</a:t>
            </a:r>
            <a:endParaRPr lang="en-US" sz="1400" dirty="0"/>
          </a:p>
        </p:txBody>
      </p:sp>
      <p:sp>
        <p:nvSpPr>
          <p:cNvPr id="9" name="ligne LIMITE"/>
          <p:cNvSpPr/>
          <p:nvPr/>
        </p:nvSpPr>
        <p:spPr>
          <a:xfrm>
            <a:off x="548640" y="347472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66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221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Moins rapide : elle n'est pas faite pour la production.</a:t>
            </a:r>
            <a:endParaRPr lang="en-US" sz="1400" dirty="0"/>
          </a:p>
        </p:txBody>
      </p:sp>
      <p:sp>
        <p:nvSpPr>
          <p:cNvPr id="12" name="carte version"/>
          <p:cNvSpPr/>
          <p:nvPr/>
        </p:nvSpPr>
        <p:spPr>
          <a:xfrm>
            <a:off x="5760720" y="1371600"/>
            <a:ext cx="2834640" cy="301752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3.10.3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Dernière version trouvée · 12 août 2026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Sécurité renforcée : MaltParser est maintenant exécuté en sandbox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spaCy : l'outil pour produire</a:t>
            </a:r>
            <a:endParaRPr lang="en-US" sz="3200" dirty="0"/>
          </a:p>
        </p:txBody>
      </p:sp>
      <p:sp>
        <p:nvSpPr>
          <p:cNvPr id="3" name="carte version"/>
          <p:cNvSpPr/>
          <p:nvPr/>
        </p:nvSpPr>
        <p:spPr>
          <a:xfrm>
            <a:off x="548640" y="1371600"/>
            <a:ext cx="2834640" cy="301752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3.8.16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Dernière version · 24 août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Modernisée : Pydantic v2 adopté depuis la 3.8.12</a:t>
            </a:r>
            <a:endParaRPr lang="en-US" sz="1400" dirty="0"/>
          </a:p>
        </p:txBody>
      </p:sp>
      <p:sp>
        <p:nvSpPr>
          <p:cNvPr id="7" name="ligne DÉFINITION"/>
          <p:cNvSpPr/>
          <p:nvPr/>
        </p:nvSpPr>
        <p:spPr>
          <a:xfrm>
            <a:off x="365760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4630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DÉFINITION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719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Bibliothèque Python rapide, pensée pour les vrais produits.</a:t>
            </a:r>
            <a:endParaRPr lang="en-US" sz="1400" dirty="0"/>
          </a:p>
        </p:txBody>
      </p:sp>
      <p:sp>
        <p:nvSpPr>
          <p:cNvPr id="10" name="ligne SAIT FAIRE"/>
          <p:cNvSpPr/>
          <p:nvPr/>
        </p:nvSpPr>
        <p:spPr>
          <a:xfrm>
            <a:off x="3657600" y="242316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86200" y="2514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SAIT FAIRE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770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Repérer personnes, lieux et organisations (NER), lemmatiser, analyser la grammaire.</a:t>
            </a:r>
            <a:endParaRPr lang="en-US" sz="1400" dirty="0"/>
          </a:p>
        </p:txBody>
      </p:sp>
      <p:sp>
        <p:nvSpPr>
          <p:cNvPr id="13" name="ligne DIFFÉRENCE"/>
          <p:cNvSpPr/>
          <p:nvPr/>
        </p:nvSpPr>
        <p:spPr>
          <a:xfrm>
            <a:off x="3657600" y="347472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3566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DIFFÉRENCE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8221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NLTK pour apprendre, spaCy pour construire.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Transformers : l'attention</a:t>
            </a:r>
            <a:endParaRPr lang="en-US" sz="3200" dirty="0"/>
          </a:p>
        </p:txBody>
      </p:sp>
      <p:sp>
        <p:nvSpPr>
          <p:cNvPr id="3" name="mot Le"/>
          <p:cNvSpPr/>
          <p:nvPr/>
        </p:nvSpPr>
        <p:spPr>
          <a:xfrm>
            <a:off x="548640" y="1463040"/>
            <a:ext cx="8229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</a:t>
            </a:r>
            <a:endParaRPr lang="en-US" sz="1600" dirty="0"/>
          </a:p>
        </p:txBody>
      </p:sp>
      <p:sp>
        <p:nvSpPr>
          <p:cNvPr id="5" name="mot chat"/>
          <p:cNvSpPr/>
          <p:nvPr/>
        </p:nvSpPr>
        <p:spPr>
          <a:xfrm>
            <a:off x="1490472" y="1463040"/>
            <a:ext cx="9144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90472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chat</a:t>
            </a:r>
            <a:endParaRPr lang="en-US" sz="1600" dirty="0"/>
          </a:p>
        </p:txBody>
      </p:sp>
      <p:sp>
        <p:nvSpPr>
          <p:cNvPr id="7" name="mot n'a pas mangé"/>
          <p:cNvSpPr/>
          <p:nvPr/>
        </p:nvSpPr>
        <p:spPr>
          <a:xfrm>
            <a:off x="2523744" y="1463040"/>
            <a:ext cx="1737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n'a pas mangé</a:t>
            </a:r>
            <a:endParaRPr lang="en-US" sz="1600" dirty="0"/>
          </a:p>
        </p:txBody>
      </p:sp>
      <p:sp>
        <p:nvSpPr>
          <p:cNvPr id="9" name="mot la souris"/>
          <p:cNvSpPr/>
          <p:nvPr/>
        </p:nvSpPr>
        <p:spPr>
          <a:xfrm>
            <a:off x="4379976" y="1463040"/>
            <a:ext cx="11887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9976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souris</a:t>
            </a:r>
            <a:endParaRPr lang="en-US" sz="1600" dirty="0"/>
          </a:p>
        </p:txBody>
      </p:sp>
      <p:sp>
        <p:nvSpPr>
          <p:cNvPr id="11" name="mot car"/>
          <p:cNvSpPr/>
          <p:nvPr/>
        </p:nvSpPr>
        <p:spPr>
          <a:xfrm>
            <a:off x="5687568" y="1463040"/>
            <a:ext cx="731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87568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</a:t>
            </a:r>
            <a:endParaRPr lang="en-US" sz="1600" dirty="0"/>
          </a:p>
        </p:txBody>
      </p:sp>
      <p:sp>
        <p:nvSpPr>
          <p:cNvPr id="13" name="mot il"/>
          <p:cNvSpPr/>
          <p:nvPr/>
        </p:nvSpPr>
        <p:spPr>
          <a:xfrm>
            <a:off x="6537960" y="1463040"/>
            <a:ext cx="64008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il</a:t>
            </a:r>
            <a:endParaRPr lang="en-US" sz="1600" dirty="0"/>
          </a:p>
        </p:txBody>
      </p:sp>
      <p:sp>
        <p:nvSpPr>
          <p:cNvPr id="15" name="mot avait peur"/>
          <p:cNvSpPr/>
          <p:nvPr/>
        </p:nvSpPr>
        <p:spPr>
          <a:xfrm>
            <a:off x="7296912" y="1463040"/>
            <a:ext cx="12801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avait peur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« il » regarde tous les mots de la phrase et donne le plus de poids à « chat ».</a:t>
            </a:r>
            <a:endParaRPr lang="en-US" sz="1600" dirty="0"/>
          </a:p>
        </p:txBody>
      </p:sp>
      <p:sp>
        <p:nvSpPr>
          <p:cNvPr id="18" name="idée 1"/>
          <p:cNvSpPr/>
          <p:nvPr/>
        </p:nvSpPr>
        <p:spPr>
          <a:xfrm>
            <a:off x="548640" y="28803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Lecture en parallèle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Tous les mots sont traités en même temps, donc plus vite que les anciens RNN et LSTM.</a:t>
            </a:r>
            <a:endParaRPr lang="en-US" sz="1400" dirty="0"/>
          </a:p>
        </p:txBody>
      </p:sp>
      <p:sp>
        <p:nvSpPr>
          <p:cNvPr id="21" name="idée 2"/>
          <p:cNvSpPr/>
          <p:nvPr/>
        </p:nvSpPr>
        <p:spPr>
          <a:xfrm>
            <a:off x="3291840" y="28803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Une base commune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BERT et GPT reposent sur cette architecture.</a:t>
            </a:r>
            <a:endParaRPr lang="en-US" sz="1400" dirty="0"/>
          </a:p>
        </p:txBody>
      </p:sp>
      <p:sp>
        <p:nvSpPr>
          <p:cNvPr id="24" name="idée 3"/>
          <p:cNvSpPr/>
          <p:nvPr/>
        </p:nvSpPr>
        <p:spPr>
          <a:xfrm>
            <a:off x="6035040" y="28803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Née en 2017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Article de Google : « Attention Is All You Need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Hugging Face Transformers v5</a:t>
            </a:r>
            <a:endParaRPr lang="en-US" sz="3200" dirty="0"/>
          </a:p>
        </p:txBody>
      </p:sp>
      <p:sp>
        <p:nvSpPr>
          <p:cNvPr id="3" name="stat 1re"/>
          <p:cNvSpPr/>
          <p:nvPr/>
        </p:nvSpPr>
        <p:spPr>
          <a:xfrm>
            <a:off x="5486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1re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version majeure en 5 ans</a:t>
            </a:r>
            <a:endParaRPr lang="en-US" sz="1400" dirty="0"/>
          </a:p>
        </p:txBody>
      </p:sp>
      <p:sp>
        <p:nvSpPr>
          <p:cNvPr id="6" name="stat 1200"/>
          <p:cNvSpPr/>
          <p:nvPr/>
        </p:nvSpPr>
        <p:spPr>
          <a:xfrm>
            <a:off x="32918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commits depuis la dernière version mineure</a:t>
            </a:r>
            <a:endParaRPr lang="en-US" sz="1400" dirty="0"/>
          </a:p>
        </p:txBody>
      </p:sp>
      <p:sp>
        <p:nvSpPr>
          <p:cNvPr id="9" name="stat 5.19.0"/>
          <p:cNvSpPr/>
          <p:nvPr/>
        </p:nvSpPr>
        <p:spPr>
          <a:xfrm>
            <a:off x="60350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5.19.0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dernière version · 6 oct. 2026</a:t>
            </a:r>
            <a:endParaRPr lang="en-US" sz="1400" dirty="0"/>
          </a:p>
        </p:txBody>
      </p:sp>
      <p:sp>
        <p:nvSpPr>
          <p:cNvPr id="12" name="nouveautés"/>
          <p:cNvSpPr txBox="1"/>
          <p:nvPr/>
        </p:nvSpPr>
        <p:spPr>
          <a:xfrm>
            <a:off x="548640" y="30175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Chargement des poids repensé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Tokenisation simplifiée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load_in_4bit / 8bit retirés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v5.19 : EmbeddingGemma 2, batching continu</a:t>
            </a:r>
            <a:endParaRPr lang="en-US" sz="1400" dirty="0"/>
          </a:p>
        </p:txBody>
      </p:sp>
      <p:sp>
        <p:nvSpPr>
          <p:cNvPr id="13" name="code"/>
          <p:cNvSpPr/>
          <p:nvPr/>
        </p:nvSpPr>
        <p:spPr>
          <a:xfrm>
            <a:off x="4754880" y="3017520"/>
            <a:ext cx="384048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1546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pipeline("sentiment-analysis")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pipe("J'adore le NLP !")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LLM : les grands modèles de langage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548640" y="132588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Pré-entraînement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Lire des milliards de textes</a:t>
            </a:r>
            <a:endParaRPr lang="en-US" sz="1400" dirty="0"/>
          </a:p>
        </p:txBody>
      </p:sp>
      <p:sp>
        <p:nvSpPr>
          <p:cNvPr id="8" name="étape 2"/>
          <p:cNvSpPr/>
          <p:nvPr/>
        </p:nvSpPr>
        <p:spPr>
          <a:xfrm>
            <a:off x="2606040" y="132588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274320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Ajustement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Apprendre à suivre les consignes</a:t>
            </a:r>
            <a:endParaRPr lang="en-US" sz="1400" dirty="0"/>
          </a:p>
        </p:txBody>
      </p:sp>
      <p:sp>
        <p:nvSpPr>
          <p:cNvPr id="13" name="étape 3"/>
          <p:cNvSpPr/>
          <p:nvPr/>
        </p:nvSpPr>
        <p:spPr>
          <a:xfrm>
            <a:off x="4663440" y="132588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 3"/>
          <p:cNvSpPr/>
          <p:nvPr/>
        </p:nvSpPr>
        <p:spPr>
          <a:xfrm>
            <a:off x="480060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Prompt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Vous posez la question</a:t>
            </a:r>
            <a:endParaRPr lang="en-US" sz="1400" dirty="0"/>
          </a:p>
        </p:txBody>
      </p:sp>
      <p:sp>
        <p:nvSpPr>
          <p:cNvPr id="18" name="étape 4"/>
          <p:cNvSpPr/>
          <p:nvPr/>
        </p:nvSpPr>
        <p:spPr>
          <a:xfrm>
            <a:off x="6720840" y="132588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 4"/>
          <p:cNvSpPr/>
          <p:nvPr/>
        </p:nvSpPr>
        <p:spPr>
          <a:xfrm>
            <a:off x="685800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Génération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Réponse écrite token par token</a:t>
            </a:r>
            <a:endParaRPr lang="en-US" sz="1400" dirty="0"/>
          </a:p>
        </p:txBody>
      </p:sp>
      <p:sp>
        <p:nvSpPr>
          <p:cNvPr id="23" name="tendances"/>
          <p:cNvSpPr/>
          <p:nvPr/>
        </p:nvSpPr>
        <p:spPr>
          <a:xfrm>
            <a:off x="54864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12724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Tendances d'octobre 2026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Contexte jusqu'à ~1 million de tokens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Multimodal : texte, image, audio, vidéo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: des LLM qui utilisent des outils</a:t>
            </a:r>
            <a:endParaRPr lang="en-US" sz="1600" dirty="0"/>
          </a:p>
        </p:txBody>
      </p:sp>
      <p:sp>
        <p:nvSpPr>
          <p:cNvPr id="25" name="familles"/>
          <p:cNvSpPr/>
          <p:nvPr/>
        </p:nvSpPr>
        <p:spPr>
          <a:xfrm>
            <a:off x="4754880" y="3017520"/>
            <a:ext cx="38404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127248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Grandes familles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OpenAI : GPT-5.6, GPT-6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Anthropic : Claude 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: Gemini 3.x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Open-weight : Llama, DeepSeek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4 outils en un coup d'œil</a:t>
            </a:r>
            <a:endParaRPr lang="en-US" sz="3200" dirty="0"/>
          </a:p>
        </p:txBody>
      </p:sp>
      <p:graphicFrame>
        <p:nvGraphicFramePr>
          <p:cNvPr id="10" name="compar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00200"/>
                <a:gridCol w="1600200"/>
                <a:gridCol w="1737360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 + architecture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modèle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Apprendre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Réutiliser des modèles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Comprendre et générer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Règles et statistiques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rapides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learning, 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grande échelle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récente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5.19.0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GPT, Claude, Gemini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NLTK → spaCy → Transformers → LLM : l'évolution du NLP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À retenir</a:t>
            </a:r>
            <a:endParaRPr lang="en-US" sz="3600" dirty="0"/>
          </a:p>
        </p:txBody>
      </p:sp>
      <p:sp>
        <p:nvSpPr>
          <p:cNvPr id="3" name="carte NLTK"/>
          <p:cNvSpPr/>
          <p:nvPr/>
        </p:nvSpPr>
        <p:spPr>
          <a:xfrm>
            <a:off x="54864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NLTK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Pour apprendre les bases</a:t>
            </a:r>
            <a:endParaRPr lang="en-US" sz="1400" dirty="0"/>
          </a:p>
        </p:txBody>
      </p:sp>
      <p:sp>
        <p:nvSpPr>
          <p:cNvPr id="6" name="carte spaCy"/>
          <p:cNvSpPr/>
          <p:nvPr/>
        </p:nvSpPr>
        <p:spPr>
          <a:xfrm>
            <a:off x="260604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spaCy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488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Pour construire un produit</a:t>
            </a:r>
            <a:endParaRPr lang="en-US" sz="1400" dirty="0"/>
          </a:p>
        </p:txBody>
      </p:sp>
      <p:sp>
        <p:nvSpPr>
          <p:cNvPr id="9" name="carte Transformers"/>
          <p:cNvSpPr/>
          <p:nvPr/>
        </p:nvSpPr>
        <p:spPr>
          <a:xfrm>
            <a:off x="466344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Transformers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488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L'attention a tout changé</a:t>
            </a:r>
            <a:endParaRPr lang="en-US" sz="1400" dirty="0"/>
          </a:p>
        </p:txBody>
      </p:sp>
      <p:sp>
        <p:nvSpPr>
          <p:cNvPr id="12" name="carte LLM"/>
          <p:cNvSpPr/>
          <p:nvPr/>
        </p:nvSpPr>
        <p:spPr>
          <a:xfrm>
            <a:off x="672084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LLM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488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 Transformers géants qui génèrent du texte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Sources : PyPI et GitHub (NLTK, spaCy, Transformers), blog Hugging Face, comparatifs LLM d'octobre 2026. Versions à revérifier avant la présentation.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P Teal">
  <a:themeElements>
    <a:clrScheme name="NLP Teal">
      <a:dk1>
        <a:srgbClr val="1B2A2F"/>
      </a:dk1>
      <a:lt1>
        <a:srgbClr val="FFFFFF"/>
      </a:lt1>
      <a:dk2>
        <a:srgbClr val="0F3D3E"/>
      </a:dk2>
      <a:lt2>
        <a:srgbClr val="EAF4F2"/>
      </a:lt2>
      <a:accent1>
        <a:srgbClr val="0F8B8D"/>
      </a:accent1>
      <a:accent2>
        <a:srgbClr val="F5A524"/>
      </a:accent2>
      <a:accent3>
        <a:srgbClr val="143642"/>
      </a:accent3>
      <a:accent4>
        <a:srgbClr val="6FB7B0"/>
      </a:accent4>
      <a:accent5>
        <a:srgbClr val="E4572E"/>
      </a:accent5>
      <a:accent6>
        <a:srgbClr val="7A8C8F"/>
      </a:accent6>
      <a:hlink>
        <a:srgbClr val="0F8B8D"/>
      </a:hlink>
      <a:folHlink>
        <a:srgbClr val="7A8C8F"/>
      </a:folHlink>
    </a:clrScheme>
    <a:fontScheme name="NLP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NLP expliqué simplement</dc:title>
  <dc:subject>PptxGenJS Presentation</dc:subject>
  <dc:creator>PptxGenJS</dc:creator>
  <cp:lastModifiedBy>PptxGenJS</cp:lastModifiedBy>
  <cp:revision>1</cp:revision>
  <dcterms:created xsi:type="dcterms:W3CDTF">2026-10-07T12:18:14Z</dcterms:created>
  <dcterms:modified xsi:type="dcterms:W3CDTF">2026-10-07T12:18:14Z</dcterms:modified>
</cp:coreProperties>
</file>